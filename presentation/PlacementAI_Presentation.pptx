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6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72A52"/>
                </a:solidFill>
                <a:latin typeface="Calibri"/>
              </a:rPr>
              <a:t>Same features and test cohort: XGBoost against simpler models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72A52"/>
            </a:solidFill>
          </c:spPr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Logistic regression</c:v>
                </c:pt>
                <c:pt idx="2">
                  <c:v>Random forest</c:v>
                </c:pt>
                <c:pt idx="3">
                  <c:v>XGBoost</c:v>
                </c:pt>
                <c:pt idx="4">
                  <c:v>XGBoost, tuned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74.9</c:v>
                </c:pt>
                <c:pt idx="1">
                  <c:v>77.5</c:v>
                </c:pt>
                <c:pt idx="2">
                  <c:v>77.8</c:v>
                </c:pt>
                <c:pt idx="3">
                  <c:v>78.7</c:v>
                </c:pt>
                <c:pt idx="4">
                  <c:v>78.0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High-risk recall (%)</c:v>
                </c:pt>
              </c:strCache>
            </c:strRef>
          </c:tx>
          <c:spPr>
            <a:solidFill>
              <a:srgbClr val="EF6019"/>
            </a:solidFill>
          </c:spPr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Logistic regression</c:v>
                </c:pt>
                <c:pt idx="2">
                  <c:v>Random forest</c:v>
                </c:pt>
                <c:pt idx="3">
                  <c:v>XGBoost</c:v>
                </c:pt>
                <c:pt idx="4">
                  <c:v>XGBoost, tuned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64.5</c:v>
                </c:pt>
                <c:pt idx="1">
                  <c:v>73.5</c:v>
                </c:pt>
                <c:pt idx="2">
                  <c:v>70.3</c:v>
                </c:pt>
                <c:pt idx="3">
                  <c:v>73.7</c:v>
                </c:pt>
                <c:pt idx="4">
                  <c:v>80.3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C24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200">
                <a:solidFill>
                  <a:srgbClr val="1C243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0"/>
          <c:min val="50.0"/>
        </c:scaling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6573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</c:plotArea>
    <c:legend>
      <c:legendPos val="t"/>
      <c:overlay val="0"/>
      <c:txPr>
        <a:bodyPr/>
        <a:lstStyle/>
        <a:p>
          <a:pPr>
            <a:defRPr sz="1300">
              <a:solidFill>
                <a:srgbClr val="1C2430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guide. One line: PlacementAI predicts, before graduation, which education-loan borrowers are likely to struggle to find a job, and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Lenders only learn about placement risk once EMIs are missed. Credit scores look at the co-applicant, not the student's job prospects. Repayment depends on employment, so an early, explainable warning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existing approaches and what each misses. The gap: nothing combines a time-based placement forecast, loan context and explanations for the lender.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parts: risk tier with 3, 6 and 12 month probabilities, salary range, SHAP explanations, and lender tools. Innovations on the right; the key one is tuning the high-risk threshold for lenders.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four targets met. Accuracy is the honest exception: the data has a 79.7% ceiling because of random noise, so 84% is not reachable by any model. We are within 1 point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through the pipeline. Stress the time-based split: train on 2023-24 graduates, tune on a validation slice of those years, test once on the unseen 2025 cohort. No test data is used for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open-source Python. No special hardware. The screenshot is the live dashboard on 1,00,000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scoring a new applicant live. Right: SHAP for one student; green bars lower risk, red bars raise it. Demo the dashboard here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numbers on the left. The chart compares XGBoost with simpler models on the same data. XGBoost wins on accuracy, F1 and AUC; only the tuned version reaches 80% high-risk recall. If asked why logistic regression is close: the labels come from a largely linear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Innovation, impact, deliverables, and future work. Main future step: train on real, anonymised lender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in three numbers: 80.3% of high-risk borrowers caught, AUC 0.923, within 1 point of the accuracy ceiling. Thank the guide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390" y="2197894"/>
            <a:ext cx="2232660" cy="1477328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b="1" dirty="0"/>
              <a:t>Shri </a:t>
            </a:r>
            <a:r>
              <a:rPr lang="en-IN" b="1" dirty="0" err="1"/>
              <a:t>Ramdeobaba</a:t>
            </a:r>
            <a:r>
              <a:rPr lang="en-IN" b="1" dirty="0"/>
              <a:t> College of Engineering &amp; Management, Nagpur</a:t>
            </a:r>
            <a:endParaRPr sz="2000" dirty="0">
              <a:solidFill/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390" y="3667595"/>
            <a:ext cx="1965960" cy="150810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 dirty="0">
                <a:solidFill>
                  <a:srgbClr val="072A52"/>
                </a:solidFill>
                <a:latin typeface="+mj-lt"/>
              </a:rPr>
              <a:t>Major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868680"/>
            <a:ext cx="7955279" cy="58477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PlacementAI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444752"/>
            <a:ext cx="7863840" cy="46166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EF6019"/>
                </a:solidFill>
                <a:latin typeface="+mj-lt"/>
              </a:rPr>
              <a:t>Explainable placement risk for education loans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938528"/>
            <a:ext cx="7863840" cy="3200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60825"/>
            <a:ext cx="7955279" cy="273320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6562878"/>
            <a:ext cx="4236415" cy="273320"/>
          </a:xfrm>
          <a:prstGeom prst="rect">
            <a:avLst/>
          </a:prstGeom>
          <a:solidFill>
            <a:srgbClr val="EF6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9B445B-D27F-87EF-AD8D-FF266BEF24E0}"/>
              </a:ext>
            </a:extLst>
          </p:cNvPr>
          <p:cNvSpPr txBox="1"/>
          <p:nvPr/>
        </p:nvSpPr>
        <p:spPr>
          <a:xfrm>
            <a:off x="494157" y="5060347"/>
            <a:ext cx="1965960" cy="830997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 dirty="0">
                <a:solidFill>
                  <a:srgbClr val="072A52"/>
                </a:solidFill>
                <a:latin typeface="+mj-lt"/>
              </a:rPr>
              <a:t>COURSE CODE</a:t>
            </a:r>
            <a:endParaRPr sz="2400" dirty="0">
              <a:solidFill/>
              <a:latin typeface="+mj-lt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2B9AAD-1625-D059-FD92-B382EE9652A5}"/>
              </a:ext>
            </a:extLst>
          </p:cNvPr>
          <p:cNvCxnSpPr>
            <a:cxnSpLocks/>
          </p:cNvCxnSpPr>
          <p:nvPr/>
        </p:nvCxnSpPr>
        <p:spPr>
          <a:xfrm>
            <a:off x="2657474" y="64008"/>
            <a:ext cx="0" cy="6456664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:\Users\acer\AppData\Local\Microsoft\Windows\INetCache\Content.MSO\6B2730D9.tmp">
            <a:extLst>
              <a:ext uri="{FF2B5EF4-FFF2-40B4-BE49-F238E27FC236}">
                <a16:creationId xmlns:a16="http://schemas.microsoft.com/office/drawing/2014/main" id="{12610A22-E5EB-4A65-8A13-8BE22A46DD0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689055"/>
            <a:ext cx="1773174" cy="129326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am label"/>
          <p:cNvSpPr txBox="1"/>
          <p:nvPr/>
        </p:nvSpPr>
        <p:spPr>
          <a:xfrm>
            <a:off x="3273552" y="2331720"/>
            <a:ext cx="3931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TEAM MEMBERS</a:t>
            </a:r>
          </a:p>
        </p:txBody>
      </p:sp>
      <p:sp>
        <p:nvSpPr>
          <p:cNvPr id="33" name="Team members"/>
          <p:cNvSpPr txBox="1"/>
          <p:nvPr/>
        </p:nvSpPr>
        <p:spPr>
          <a:xfrm>
            <a:off x="3273552" y="2670048"/>
            <a:ext cx="3931920" cy="2194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C2430"/>
                </a:solidFill>
                <a:latin typeface="Calibri"/>
              </a:rPr>
              <a:t>Aakash Singh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   Roll No. 01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C2430"/>
                </a:solidFill>
                <a:latin typeface="Calibri"/>
              </a:rPr>
              <a:t>Anish Pujari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   Roll No. 02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C2430"/>
                </a:solidFill>
                <a:latin typeface="Calibri"/>
              </a:rPr>
              <a:t>Sandali Katrojwar</a:t>
            </a:r>
            <a:r>
              <a:rPr sz="1500" b="0" i="0">
                <a:solidFill>
                  <a:srgbClr val="5B6573"/>
                </a:solidFill>
                <a:latin typeface="Calibri"/>
              </a:rPr>
              <a:t>   Roll No. 27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C2430"/>
                </a:solidFill>
                <a:latin typeface="Calibri"/>
              </a:rPr>
              <a:t>Afreen</a:t>
            </a:r>
          </a:p>
        </p:txBody>
      </p:sp>
      <p:sp>
        <p:nvSpPr>
          <p:cNvPr id="34" name="Guide label"/>
          <p:cNvSpPr txBox="1"/>
          <p:nvPr/>
        </p:nvSpPr>
        <p:spPr>
          <a:xfrm>
            <a:off x="7635240" y="233172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GUIDE</a:t>
            </a:r>
          </a:p>
        </p:txBody>
      </p:sp>
      <p:sp>
        <p:nvSpPr>
          <p:cNvPr id="35" name="Guide"/>
          <p:cNvSpPr txBox="1"/>
          <p:nvPr/>
        </p:nvSpPr>
        <p:spPr>
          <a:xfrm>
            <a:off x="7635240" y="2670048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2430"/>
                </a:solidFill>
                <a:latin typeface="Calibri"/>
              </a:rPr>
              <a:t>Prof. Gunjan Keswani</a:t>
            </a:r>
          </a:p>
        </p:txBody>
      </p:sp>
      <p:sp>
        <p:nvSpPr>
          <p:cNvPr id="36" name="Dept label"/>
          <p:cNvSpPr txBox="1"/>
          <p:nvPr/>
        </p:nvSpPr>
        <p:spPr>
          <a:xfrm>
            <a:off x="7635240" y="333756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DEPARTMENT</a:t>
            </a:r>
          </a:p>
        </p:txBody>
      </p:sp>
      <p:sp>
        <p:nvSpPr>
          <p:cNvPr id="37" name="Dept"/>
          <p:cNvSpPr txBox="1"/>
          <p:nvPr/>
        </p:nvSpPr>
        <p:spPr>
          <a:xfrm>
            <a:off x="7635240" y="3675887"/>
            <a:ext cx="356616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C2430"/>
                </a:solidFill>
                <a:latin typeface="Calibri"/>
              </a:rPr>
              <a:t>Computer Science and Engineering</a:t>
            </a:r>
          </a:p>
        </p:txBody>
      </p:sp>
      <p:sp>
        <p:nvSpPr>
          <p:cNvPr id="38" name="Year label"/>
          <p:cNvSpPr txBox="1"/>
          <p:nvPr/>
        </p:nvSpPr>
        <p:spPr>
          <a:xfrm>
            <a:off x="7635240" y="4434840"/>
            <a:ext cx="3566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ACADEMIC YEAR</a:t>
            </a:r>
          </a:p>
        </p:txBody>
      </p:sp>
      <p:sp>
        <p:nvSpPr>
          <p:cNvPr id="39" name="Year"/>
          <p:cNvSpPr txBox="1"/>
          <p:nvPr/>
        </p:nvSpPr>
        <p:spPr>
          <a:xfrm>
            <a:off x="7635240" y="4773168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2430"/>
                </a:solidFill>
                <a:latin typeface="Calibri"/>
              </a:rPr>
              <a:t>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2 of 11</a:t>
            </a:r>
          </a:p>
        </p:txBody>
      </p:sp>
      <p:sp>
        <p:nvSpPr>
          <p:cNvPr id="12" name="Card 1"/>
          <p:cNvSpPr/>
          <p:nvPr/>
        </p:nvSpPr>
        <p:spPr>
          <a:xfrm>
            <a:off x="731520" y="1508760"/>
            <a:ext cx="5166360" cy="22402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adge 1"/>
          <p:cNvSpPr/>
          <p:nvPr/>
        </p:nvSpPr>
        <p:spPr>
          <a:xfrm>
            <a:off x="1005840" y="1783080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78308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77439"/>
            <a:ext cx="4663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C2430"/>
                </a:solidFill>
                <a:latin typeface="Calibri"/>
              </a:rPr>
              <a:t>Education lenders cannot see which borrowers will struggle to find a job until EMIs are already being missed. By then, the options to help are limited.</a:t>
            </a:r>
          </a:p>
        </p:txBody>
      </p:sp>
      <p:sp>
        <p:nvSpPr>
          <p:cNvPr id="16" name="Card 2"/>
          <p:cNvSpPr/>
          <p:nvPr/>
        </p:nvSpPr>
        <p:spPr>
          <a:xfrm>
            <a:off x="6172200" y="1508760"/>
            <a:ext cx="5166360" cy="22402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adge 2"/>
          <p:cNvSpPr/>
          <p:nvPr/>
        </p:nvSpPr>
        <p:spPr>
          <a:xfrm>
            <a:off x="6446520" y="1783080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78308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Who is affected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77439"/>
            <a:ext cx="4663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C2430"/>
                </a:solidFill>
                <a:latin typeface="Calibri"/>
              </a:rPr>
              <a:t>Banks and NBFCs funding study abroad, students and families repaying large loans, and loan officers reviewing every account by hand.</a:t>
            </a:r>
          </a:p>
        </p:txBody>
      </p:sp>
      <p:sp>
        <p:nvSpPr>
          <p:cNvPr id="20" name="Card 3"/>
          <p:cNvSpPr/>
          <p:nvPr/>
        </p:nvSpPr>
        <p:spPr>
          <a:xfrm>
            <a:off x="731520" y="3977639"/>
            <a:ext cx="5166360" cy="22402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Badge 3"/>
          <p:cNvSpPr/>
          <p:nvPr/>
        </p:nvSpPr>
        <p:spPr>
          <a:xfrm>
            <a:off x="1005840" y="4251959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251959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Current challenges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4663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C2430"/>
                </a:solidFill>
                <a:latin typeface="Calibri"/>
              </a:rPr>
              <a:t>Credit scores look at the co-applicant's income, not the student's job prospects. Visa routes, sector hiring and institute track record are ignored.</a:t>
            </a:r>
          </a:p>
        </p:txBody>
      </p:sp>
      <p:sp>
        <p:nvSpPr>
          <p:cNvPr id="24" name="Card 4"/>
          <p:cNvSpPr/>
          <p:nvPr/>
        </p:nvSpPr>
        <p:spPr>
          <a:xfrm>
            <a:off x="6172200" y="3977639"/>
            <a:ext cx="5166360" cy="22402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Badge 4"/>
          <p:cNvSpPr/>
          <p:nvPr/>
        </p:nvSpPr>
        <p:spPr>
          <a:xfrm>
            <a:off x="6446520" y="4251959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251959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Why it matters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846320"/>
            <a:ext cx="4663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C2430"/>
                </a:solidFill>
                <a:latin typeface="Calibri"/>
              </a:rPr>
              <a:t>Repayment depends on employment. An early, explainable warning leaves time for counselling, skilling or an EMI holiday, as the RBI Fair Practices Code expects.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EXISTING SOLUTION / LITERATURE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3 of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79" y="1417320"/>
            <a:ext cx="3703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WHAT IT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1417320"/>
            <a:ext cx="3611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LIMITATION</a:t>
            </a:r>
          </a:p>
        </p:txBody>
      </p:sp>
      <p:sp>
        <p:nvSpPr>
          <p:cNvPr id="15" name="Row 1"/>
          <p:cNvSpPr/>
          <p:nvPr/>
        </p:nvSpPr>
        <p:spPr>
          <a:xfrm>
            <a:off x="731520" y="1828800"/>
            <a:ext cx="10744200" cy="9784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2971800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Credit bureau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1828800"/>
            <a:ext cx="3520439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Scores repayment history of the borrower and co-applicant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828800"/>
            <a:ext cx="3429000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Has no view of the student's future employability</a:t>
            </a:r>
          </a:p>
        </p:txBody>
      </p:sp>
      <p:sp>
        <p:nvSpPr>
          <p:cNvPr id="19" name="Row 2"/>
          <p:cNvSpPr/>
          <p:nvPr/>
        </p:nvSpPr>
        <p:spPr>
          <a:xfrm>
            <a:off x="731520" y="2944368"/>
            <a:ext cx="10744200" cy="9784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2944368"/>
            <a:ext cx="2971800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Campus placement prediction (ML studies)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2944368"/>
            <a:ext cx="3520439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Predicts placed or not placed from CGPA and skills, using logistic regression, decision trees or random forests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944368"/>
            <a:ext cx="3429000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Binary outcome, no time horizon, no loan context, rarely explained</a:t>
            </a:r>
          </a:p>
        </p:txBody>
      </p:sp>
      <p:sp>
        <p:nvSpPr>
          <p:cNvPr id="23" name="Row 3"/>
          <p:cNvSpPr/>
          <p:nvPr/>
        </p:nvSpPr>
        <p:spPr>
          <a:xfrm>
            <a:off x="731520" y="4059935"/>
            <a:ext cx="10744200" cy="978408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4059935"/>
            <a:ext cx="2971800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Manual review by loan officers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79" y="4059935"/>
            <a:ext cx="3520439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Judgement based on university, course and 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059935"/>
            <a:ext cx="3429000" cy="9784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Subjective, slow, and does not scale to large portfolios</a:t>
            </a:r>
          </a:p>
        </p:txBody>
      </p:sp>
      <p:sp>
        <p:nvSpPr>
          <p:cNvPr id="27" name="Gap"/>
          <p:cNvSpPr/>
          <p:nvPr/>
        </p:nvSpPr>
        <p:spPr>
          <a:xfrm>
            <a:off x="731520" y="5303520"/>
            <a:ext cx="10744200" cy="960120"/>
          </a:xfrm>
          <a:prstGeom prst="roundRect">
            <a:avLst>
              <a:gd name="adj" fmla="val 8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" y="5303520"/>
            <a:ext cx="1024128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F6019"/>
                </a:solidFill>
                <a:latin typeface="Calibri"/>
              </a:rPr>
              <a:t>Research gap: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no tool gives lenders an explainable, time-based placement risk for each borrower, tied to the loan it affects.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4 of 11</a:t>
            </a:r>
          </a:p>
        </p:txBody>
      </p:sp>
      <p:sp>
        <p:nvSpPr>
          <p:cNvPr id="12" name="Step 1"/>
          <p:cNvSpPr/>
          <p:nvPr/>
        </p:nvSpPr>
        <p:spPr>
          <a:xfrm>
            <a:off x="777240" y="1508760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463040"/>
            <a:ext cx="5577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72A52"/>
                </a:solidFill>
                <a:latin typeface="Calibri"/>
              </a:rPr>
              <a:t>Predict risk before graduation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856232"/>
            <a:ext cx="5577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Calibri"/>
              </a:rPr>
              <a:t>Rate each borrower High, Medium or Low risk, with the probability of a job within 3, 6 and 12 months.</a:t>
            </a:r>
          </a:p>
        </p:txBody>
      </p:sp>
      <p:sp>
        <p:nvSpPr>
          <p:cNvPr id="15" name="Step 2"/>
          <p:cNvSpPr/>
          <p:nvPr/>
        </p:nvSpPr>
        <p:spPr>
          <a:xfrm>
            <a:off x="777240" y="2724912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679192"/>
            <a:ext cx="5577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72A52"/>
                </a:solidFill>
                <a:latin typeface="Calibri"/>
              </a:rPr>
              <a:t>Forecast salary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72384"/>
            <a:ext cx="5577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Calibri"/>
              </a:rPr>
              <a:t>Give a low-to-high salary range and compare it with the EMI the student must pay.</a:t>
            </a:r>
          </a:p>
        </p:txBody>
      </p:sp>
      <p:sp>
        <p:nvSpPr>
          <p:cNvPr id="18" name="Step 3"/>
          <p:cNvSpPr/>
          <p:nvPr/>
        </p:nvSpPr>
        <p:spPr>
          <a:xfrm>
            <a:off x="777240" y="3941063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95344"/>
            <a:ext cx="5577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72A52"/>
                </a:solidFill>
                <a:latin typeface="Calibri"/>
              </a:rPr>
              <a:t>Explain every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88536"/>
            <a:ext cx="5577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Calibri"/>
              </a:rPr>
              <a:t>SHAP shows which factors raise or lower each student's risk, in plain language.</a:t>
            </a:r>
          </a:p>
        </p:txBody>
      </p:sp>
      <p:sp>
        <p:nvSpPr>
          <p:cNvPr id="21" name="Step 4"/>
          <p:cNvSpPr/>
          <p:nvPr/>
        </p:nvSpPr>
        <p:spPr>
          <a:xfrm>
            <a:off x="777240" y="5157216"/>
            <a:ext cx="420624" cy="420624"/>
          </a:xfrm>
          <a:prstGeom prst="ellipse">
            <a:avLst/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111496"/>
            <a:ext cx="55778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72A52"/>
                </a:solidFill>
                <a:latin typeface="Calibri"/>
              </a:rPr>
              <a:t>Put it in a loan officer's hands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504688"/>
            <a:ext cx="5577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Calibri"/>
              </a:rPr>
              <a:t>A dashboard, REST API and one-page PDF risk card for each borrower.</a:t>
            </a:r>
          </a:p>
        </p:txBody>
      </p:sp>
      <p:sp>
        <p:nvSpPr>
          <p:cNvPr id="24" name="Innovation card"/>
          <p:cNvSpPr/>
          <p:nvPr/>
        </p:nvSpPr>
        <p:spPr>
          <a:xfrm>
            <a:off x="7406640" y="1508760"/>
            <a:ext cx="4069080" cy="4754880"/>
          </a:xfrm>
          <a:prstGeom prst="roundRect">
            <a:avLst>
              <a:gd name="adj" fmla="val 5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26679" y="1737360"/>
            <a:ext cx="3566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F6019"/>
                </a:solidFill>
                <a:latin typeface="Calibri"/>
              </a:rPr>
              <a:t>INNOVATION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194560"/>
            <a:ext cx="352044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Cost-sensitive alerts.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The high-risk threshold is tuned so 80% of risky borrowers are caught.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Honest evaluation.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Trained on 2023-24 graduates, tested on an unseen 2025 cohort.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Accuracy ceiling.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We measure the best any model can do on this data, and reach within 1 point of it.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Fraud checks.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Rules flag suspicious loan, visa and course combinations.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5 of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0876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F6019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554480"/>
            <a:ext cx="49377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2430"/>
                </a:solidFill>
                <a:latin typeface="Calibri"/>
              </a:rPr>
              <a:t>Build a 1,00,000-record synthetic dataset of Indian students studying abroad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F6019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651759"/>
            <a:ext cx="49377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2430"/>
                </a:solidFill>
                <a:latin typeface="Calibri"/>
              </a:rPr>
              <a:t>Predict each borrower's placement risk tier and job timeline before graduation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0332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F6019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49039"/>
            <a:ext cx="49377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2430"/>
                </a:solidFill>
                <a:latin typeface="Calibri"/>
              </a:rPr>
              <a:t>Forecast post-study salary to check EMI affordability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731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F6019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46320"/>
            <a:ext cx="49377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C2430"/>
                </a:solidFill>
                <a:latin typeface="Calibri"/>
              </a:rPr>
              <a:t>Explain every prediction and deliver it through a lender dashboard and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41732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MEASURABLE TARGETS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03720" y="1828800"/>
          <a:ext cx="45720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25880"/>
                <a:gridCol w="114300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7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07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Achieved</a:t>
                      </a:r>
                    </a:p>
                  </a:txBody>
                  <a:tcPr>
                    <a:solidFill>
                      <a:srgbClr val="072A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0.91 or more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D57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High-risk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79% or more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D57"/>
                          </a:solidFill>
                          <a:latin typeface="Calibri"/>
                        </a:rPr>
                        <a:t>80.3%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Salary forecast error (MAPE)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11% or less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F7D57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2430"/>
                          </a:solidFill>
                          <a:latin typeface="Calibri"/>
                        </a:rPr>
                        <a:t>84% or more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B3261E"/>
                          </a:solidFill>
                          <a:latin typeface="Calibri"/>
                        </a:rPr>
                        <a:t>78.0%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903720" y="4800600"/>
            <a:ext cx="45720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573"/>
                </a:solidFill>
                <a:latin typeface="Calibri"/>
              </a:rPr>
              <a:t>Accuracy is capped at 79.7% by random noise in the data. No model can reach 84% here; ours is within 1 point of that ceiling.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</a:rPr>
              <a:t>SYSTEM ARCHITECTURE /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47688"/>
            <a:ext cx="7955279" cy="146304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44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6 of 11</a:t>
            </a:r>
          </a:p>
        </p:txBody>
      </p:sp>
      <p:sp>
        <p:nvSpPr>
          <p:cNvPr id="45" name="Stage 1"/>
          <p:cNvSpPr/>
          <p:nvPr/>
        </p:nvSpPr>
        <p:spPr>
          <a:xfrm>
            <a:off x="731520" y="1600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1520" y="1600200"/>
            <a:ext cx="1874519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47" name="Stage 1 detail"/>
          <p:cNvSpPr/>
          <p:nvPr/>
        </p:nvSpPr>
        <p:spPr>
          <a:xfrm>
            <a:off x="731520" y="242316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41248" y="2514600"/>
            <a:ext cx="1655063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1,00,000 synthetic students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52 correlated fields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Fraud cases injected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651759" y="1943100"/>
            <a:ext cx="251461" cy="0"/>
          </a:xfrm>
          <a:prstGeom prst="line">
            <a:avLst/>
          </a:prstGeom>
          <a:ln w="25400">
            <a:solidFill>
              <a:srgbClr val="EF60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Stage 2"/>
          <p:cNvSpPr/>
          <p:nvPr/>
        </p:nvSpPr>
        <p:spPr>
          <a:xfrm>
            <a:off x="2948939" y="1600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2948939" y="1600200"/>
            <a:ext cx="1874519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52" name="Stage 2 detail"/>
          <p:cNvSpPr/>
          <p:nvPr/>
        </p:nvSpPr>
        <p:spPr>
          <a:xfrm>
            <a:off x="2948939" y="242316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058668" y="2514600"/>
            <a:ext cx="1655063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37 model features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6 derived signals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Label encoding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869179" y="1943100"/>
            <a:ext cx="251461" cy="0"/>
          </a:xfrm>
          <a:prstGeom prst="line">
            <a:avLst/>
          </a:prstGeom>
          <a:ln w="25400">
            <a:solidFill>
              <a:srgbClr val="EF60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Stage 3"/>
          <p:cNvSpPr/>
          <p:nvPr/>
        </p:nvSpPr>
        <p:spPr>
          <a:xfrm>
            <a:off x="5166359" y="1600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EF6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166359" y="1600200"/>
            <a:ext cx="1874519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57" name="Stage 3 detail"/>
          <p:cNvSpPr/>
          <p:nvPr/>
        </p:nvSpPr>
        <p:spPr>
          <a:xfrm>
            <a:off x="5166359" y="242316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276088" y="2514600"/>
            <a:ext cx="1655063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XGBoost + SMOTE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Tuned high-risk threshold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Quantile salary model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086599" y="1943100"/>
            <a:ext cx="251460" cy="0"/>
          </a:xfrm>
          <a:prstGeom prst="line">
            <a:avLst/>
          </a:prstGeom>
          <a:ln w="25400">
            <a:solidFill>
              <a:srgbClr val="EF60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tage 4"/>
          <p:cNvSpPr/>
          <p:nvPr/>
        </p:nvSpPr>
        <p:spPr>
          <a:xfrm>
            <a:off x="7383779" y="1600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383779" y="1600200"/>
            <a:ext cx="1874519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62" name="Stage 4 detail"/>
          <p:cNvSpPr/>
          <p:nvPr/>
        </p:nvSpPr>
        <p:spPr>
          <a:xfrm>
            <a:off x="7383779" y="242316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93507" y="2514600"/>
            <a:ext cx="1655063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SHAP TreeExplainer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Per-student drivers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Fraud rule checks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304020" y="1943100"/>
            <a:ext cx="251460" cy="0"/>
          </a:xfrm>
          <a:prstGeom prst="line">
            <a:avLst/>
          </a:prstGeom>
          <a:ln w="25400">
            <a:solidFill>
              <a:srgbClr val="EF601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Stage 5"/>
          <p:cNvSpPr/>
          <p:nvPr/>
        </p:nvSpPr>
        <p:spPr>
          <a:xfrm>
            <a:off x="9601200" y="1600200"/>
            <a:ext cx="1874519" cy="685800"/>
          </a:xfrm>
          <a:prstGeom prst="roundRect">
            <a:avLst>
              <a:gd name="adj" fmla="val 12000"/>
            </a:avLst>
          </a:prstGeom>
          <a:solidFill>
            <a:srgbClr val="07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601200" y="1600200"/>
            <a:ext cx="1874519" cy="685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67" name="Stage 5 detail"/>
          <p:cNvSpPr/>
          <p:nvPr/>
        </p:nvSpPr>
        <p:spPr>
          <a:xfrm>
            <a:off x="9601200" y="2423160"/>
            <a:ext cx="1874519" cy="16002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710928" y="2514600"/>
            <a:ext cx="1655063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FastAPI REST API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Streamlit dashboard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PDF risk cards</a:t>
            </a:r>
          </a:p>
        </p:txBody>
      </p:sp>
      <p:sp>
        <p:nvSpPr>
          <p:cNvPr id="69" name="Workflow"/>
          <p:cNvSpPr/>
          <p:nvPr/>
        </p:nvSpPr>
        <p:spPr>
          <a:xfrm>
            <a:off x="731520" y="4389120"/>
            <a:ext cx="1074420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005840" y="452628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WORKFLOW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4956048"/>
            <a:ext cx="193852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F6019"/>
                </a:solidFill>
                <a:latin typeface="Calibri"/>
              </a:rPr>
              <a:t>1  </a:t>
            </a:r>
            <a:r>
              <a:rPr sz="1500" b="0" i="0">
                <a:solidFill>
                  <a:srgbClr val="1C2430"/>
                </a:solidFill>
                <a:latin typeface="Calibri"/>
              </a:rPr>
              <a:t>Generate data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99816" y="4956048"/>
            <a:ext cx="193852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F6019"/>
                </a:solidFill>
                <a:latin typeface="Calibri"/>
              </a:rPr>
              <a:t>2  </a:t>
            </a:r>
            <a:r>
              <a:rPr sz="1500" b="0" i="0">
                <a:solidFill>
                  <a:srgbClr val="1C2430"/>
                </a:solidFill>
                <a:latin typeface="Calibri"/>
              </a:rPr>
              <a:t>Train on 2023-24 graduates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93792" y="4956048"/>
            <a:ext cx="193852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F6019"/>
                </a:solidFill>
                <a:latin typeface="Calibri"/>
              </a:rPr>
              <a:t>3  </a:t>
            </a:r>
            <a:r>
              <a:rPr sz="1500" b="0" i="0">
                <a:solidFill>
                  <a:srgbClr val="1C2430"/>
                </a:solidFill>
                <a:latin typeface="Calibri"/>
              </a:rPr>
              <a:t>Tune threshold on validation slice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87768" y="4956048"/>
            <a:ext cx="193852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F6019"/>
                </a:solidFill>
                <a:latin typeface="Calibri"/>
              </a:rPr>
              <a:t>4  </a:t>
            </a:r>
            <a:r>
              <a:rPr sz="1500" b="0" i="0">
                <a:solidFill>
                  <a:srgbClr val="1C2430"/>
                </a:solidFill>
                <a:latin typeface="Calibri"/>
              </a:rPr>
              <a:t>Test on unseen 2025 cohort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81744" y="4956048"/>
            <a:ext cx="1938528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F6019"/>
                </a:solidFill>
                <a:latin typeface="Calibri"/>
              </a:rPr>
              <a:t>5  </a:t>
            </a:r>
            <a:r>
              <a:rPr sz="1500" b="0" i="0">
                <a:solidFill>
                  <a:srgbClr val="1C2430"/>
                </a:solidFill>
                <a:latin typeface="Calibri"/>
              </a:rPr>
              <a:t>Serve with explanations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7 of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4754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Language and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92224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Python 3.12, NumPy, Pandas, Faker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67712"/>
            <a:ext cx="4754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96896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XGBoost, scikit-learn, imbalanced-learn (SMOTE)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72384"/>
            <a:ext cx="4754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01568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SHAP TreeExplainer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6"/>
            <a:ext cx="4754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FastAPI, Pydantic, Uvicorn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81728"/>
            <a:ext cx="4754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Dashboard and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10912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Streamlit, Plotly, fpdf2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4754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72A52"/>
                </a:solidFill>
                <a:latin typeface="Calibri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15584"/>
            <a:ext cx="4754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C2430"/>
                </a:solidFill>
                <a:latin typeface="Calibri"/>
              </a:rPr>
              <a:t>Docker, docker-compose. No special hardware: runs on a laptop CPU</a:t>
            </a:r>
          </a:p>
        </p:txBody>
      </p:sp>
      <p:pic>
        <p:nvPicPr>
          <p:cNvPr id="24" name="Dashboard screenshot" descr="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00200"/>
            <a:ext cx="5669280" cy="3486607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5806440" y="5159959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B6573"/>
                </a:solidFill>
                <a:latin typeface="Calibri"/>
              </a:rPr>
              <a:t>Portfolio overview: 1,00,000 accounts and where high risk is concentrated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RESULTS / 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8 of 11</a:t>
            </a:r>
          </a:p>
        </p:txBody>
      </p:sp>
      <p:pic>
        <p:nvPicPr>
          <p:cNvPr id="12" name="Assessment screenshot" descr="assess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5257800" cy="3549015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pic>
        <p:nvPicPr>
          <p:cNvPr id="13" name="SHAP screenshot" descr="student_sh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257800" cy="2918079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31520" y="5103495"/>
            <a:ext cx="52578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72A52"/>
                </a:solidFill>
                <a:latin typeface="Calibri"/>
              </a:rPr>
              <a:t>New assessment. </a:t>
            </a:r>
            <a:r>
              <a:rPr sz="1400" b="0" i="0">
                <a:solidFill>
                  <a:srgbClr val="1C2430"/>
                </a:solidFill>
                <a:latin typeface="Calibri"/>
              </a:rPr>
              <a:t>A new applicant is scored live, with job-timeline probabilities, salary range and top drivers.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472558"/>
            <a:ext cx="52578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72A52"/>
                </a:solidFill>
                <a:latin typeface="Calibri"/>
              </a:rPr>
              <a:t>Detailed SHAP. </a:t>
            </a:r>
            <a:r>
              <a:rPr sz="1400" b="0" i="0">
                <a:solidFill>
                  <a:srgbClr val="1C2430"/>
                </a:solidFill>
                <a:latin typeface="Calibri"/>
              </a:rPr>
              <a:t>Every feature's push toward or away from high risk. Here a low CGPA is the only factor raising this student's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RESULTS / MODEL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9 of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29260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EF6019"/>
                </a:solidFill>
                <a:latin typeface="Calibri"/>
              </a:rPr>
              <a:t>80.3%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2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Calibri"/>
              </a:rPr>
              <a:t>high-risk borrowers caught</a:t>
            </a:r>
            <a:r>
              <a:rPr sz="1400" b="0" i="0">
                <a:solidFill>
                  <a:srgbClr val="5B6573"/>
                </a:solidFill>
                <a:latin typeface="Calibri"/>
              </a:rPr>
              <a:t>   target 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79192"/>
            <a:ext cx="29260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72A52"/>
                </a:solidFill>
                <a:latin typeface="Calibri"/>
              </a:rPr>
              <a:t>0.923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00984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Calibri"/>
              </a:rPr>
              <a:t>AUC-ROC</a:t>
            </a:r>
            <a:r>
              <a:rPr sz="1400" b="0" i="0">
                <a:solidFill>
                  <a:srgbClr val="5B6573"/>
                </a:solidFill>
                <a:latin typeface="Calibri"/>
              </a:rPr>
              <a:t>   target 0.91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95344"/>
            <a:ext cx="29260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72A52"/>
                </a:solidFill>
                <a:latin typeface="Calibri"/>
              </a:rPr>
              <a:t>78.0%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17136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Calibri"/>
              </a:rPr>
              <a:t>accuracy</a:t>
            </a:r>
            <a:r>
              <a:rPr sz="1400" b="0" i="0">
                <a:solidFill>
                  <a:srgbClr val="5B6573"/>
                </a:solidFill>
                <a:latin typeface="Calibri"/>
              </a:rPr>
              <a:t>   ceiling 79.7%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11496"/>
            <a:ext cx="29260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072A52"/>
                </a:solidFill>
                <a:latin typeface="Calibri"/>
              </a:rPr>
              <a:t>7.6%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33288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Calibri"/>
              </a:rPr>
              <a:t>salary forecast error</a:t>
            </a:r>
            <a:r>
              <a:rPr sz="1400" b="0" i="0">
                <a:solidFill>
                  <a:srgbClr val="5B6573"/>
                </a:solidFill>
                <a:latin typeface="Calibri"/>
              </a:rPr>
              <a:t>   target 11% or less</a:t>
            </a:r>
          </a:p>
        </p:txBody>
      </p:sp>
      <p:graphicFrame>
        <p:nvGraphicFramePr>
          <p:cNvPr id="20" name="Model comparison chart"/>
          <p:cNvGraphicFramePr>
            <a:graphicFrameLocks noGrp="1"/>
          </p:cNvGraphicFramePr>
          <p:nvPr/>
        </p:nvGraphicFramePr>
        <p:xfrm>
          <a:off x="416052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160520" y="594360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B6573"/>
                </a:solidFill>
                <a:latin typeface="Calibri"/>
              </a:rPr>
              <a:t>Axis starts at 50%. Accuracy ceiling for this data: 79.7%.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INNOVATION, IMPACT, DELIVERABLES &amp; 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10 of 11</a:t>
            </a:r>
          </a:p>
        </p:txBody>
      </p:sp>
      <p:sp>
        <p:nvSpPr>
          <p:cNvPr id="12" name="Quad 1"/>
          <p:cNvSpPr/>
          <p:nvPr/>
        </p:nvSpPr>
        <p:spPr>
          <a:xfrm>
            <a:off x="731520" y="1463040"/>
            <a:ext cx="5166360" cy="2286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46634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Time-based placement risk, not a yes or no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Cost-sensitive threshold for lenders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Accuracy ceiling proves the model is near the limit</a:t>
            </a:r>
          </a:p>
        </p:txBody>
      </p:sp>
      <p:sp>
        <p:nvSpPr>
          <p:cNvPr id="15" name="Quad 2"/>
          <p:cNvSpPr/>
          <p:nvPr/>
        </p:nvSpPr>
        <p:spPr>
          <a:xfrm>
            <a:off x="6172200" y="1463040"/>
            <a:ext cx="5166360" cy="2286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46634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Early warning months before EMIs start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Every score explained, in line with RBI fair practices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Lenders see where their exposure is concentrated</a:t>
            </a:r>
          </a:p>
        </p:txBody>
      </p:sp>
      <p:sp>
        <p:nvSpPr>
          <p:cNvPr id="18" name="Quad 3"/>
          <p:cNvSpPr/>
          <p:nvPr/>
        </p:nvSpPr>
        <p:spPr>
          <a:xfrm>
            <a:off x="731520" y="3931920"/>
            <a:ext cx="5166360" cy="2286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Deliverables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46634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Trained models and 1,00,000-record dataset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FastAPI service with tests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5-page dashboard and PDF risk cards</a:t>
            </a:r>
          </a:p>
        </p:txBody>
      </p:sp>
      <p:sp>
        <p:nvSpPr>
          <p:cNvPr id="21" name="Quad 4"/>
          <p:cNvSpPr/>
          <p:nvPr/>
        </p:nvSpPr>
        <p:spPr>
          <a:xfrm>
            <a:off x="6172200" y="3931920"/>
            <a:ext cx="5166360" cy="2286000"/>
          </a:xfrm>
          <a:prstGeom prst="roundRect">
            <a:avLst>
              <a:gd name="adj" fmla="val 6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4572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072A52"/>
                </a:solidFill>
                <a:latin typeface="Calibri"/>
              </a:rPr>
              <a:t>Future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663440"/>
            <a:ext cx="46634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Train on real, anonymised lender data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Live job-market and visa-policy feeds</a:t>
            </a:r>
          </a:p>
          <a:p>
            <a:pPr algn="l" marL="228600" indent="-228600">
              <a:spcAft>
                <a:spcPts val="10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Probability calibration and fairness audits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72A52"/>
                </a:solidFill>
                <a:latin typeface="+mj-lt"/>
              </a:rPr>
              <a:t>CONCLUSION &amp;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09728"/>
            <a:ext cx="1243584" cy="1261872"/>
          </a:xfrm>
          <a:prstGeom prst="rect">
            <a:avLst/>
          </a:prstGeom>
        </p:spPr>
      </p:pic>
      <p:sp>
        <p:nvSpPr>
          <p:cNvPr id="10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 dirty="0">
                <a:solidFill>
                  <a:schemeClr val="bg1"/>
                </a:solidFill>
              </a:rPr>
              <a:t>17 October 2026</a:t>
            </a:r>
          </a:p>
        </p:txBody>
      </p:sp>
      <p:sp>
        <p:nvSpPr>
          <p:cNvPr id="11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 dirty="0">
                <a:solidFill>
                  <a:schemeClr val="bg1"/>
                </a:solidFill>
                <a:latin typeface="+mj-lt"/>
              </a:rPr>
              <a:t>Slide 11 of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28800"/>
            <a:ext cx="5486400" cy="4389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28600" indent="-228600">
              <a:spcAft>
                <a:spcPts val="12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PlacementAI flags education-loan borrowers likely to struggle with placement before they graduate.</a:t>
            </a:r>
          </a:p>
          <a:p>
            <a:pPr algn="l" marL="228600" indent="-228600">
              <a:spcAft>
                <a:spcPts val="12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It catches 80.3% of high-risk borrowers on an unseen cohort, with AUC 0.923.</a:t>
            </a:r>
          </a:p>
          <a:p>
            <a:pPr algn="l" marL="228600" indent="-228600">
              <a:spcAft>
                <a:spcPts val="12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Accuracy is within 1 point of the 79.7% ceiling set by the data, and XGBoost beats simpler models.</a:t>
            </a:r>
          </a:p>
          <a:p>
            <a:pPr algn="l" marL="228600" indent="-228600">
              <a:spcAft>
                <a:spcPts val="1200"/>
              </a:spcAft>
              <a:buClr>
                <a:srgbClr val="EF6019"/>
              </a:buClr>
              <a:buFont typeface="Arial"/>
              <a:buChar char="•"/>
            </a:pPr>
            <a:r>
              <a:rPr sz="1600" b="0" i="0">
                <a:solidFill>
                  <a:srgbClr val="1C2430"/>
                </a:solidFill>
                <a:latin typeface="Calibri"/>
              </a:rPr>
              <a:t>Every score comes with SHAP drivers a loan officer can act on and explain to the borrower.</a:t>
            </a:r>
          </a:p>
        </p:txBody>
      </p:sp>
      <p:sp>
        <p:nvSpPr>
          <p:cNvPr id="14" name="References card"/>
          <p:cNvSpPr/>
          <p:nvPr/>
        </p:nvSpPr>
        <p:spPr>
          <a:xfrm>
            <a:off x="6675120" y="1463040"/>
            <a:ext cx="4800600" cy="3611880"/>
          </a:xfrm>
          <a:prstGeom prst="roundRect">
            <a:avLst>
              <a:gd name="adj" fmla="val 5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0" y="1645920"/>
            <a:ext cx="42976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057400"/>
            <a:ext cx="4343400" cy="4114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72A52"/>
                </a:solidFill>
                <a:latin typeface="Calibri"/>
              </a:rPr>
              <a:t>[1] 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T. Chen and C. Guestrin, "XGBoost: A Scalable Tree Boosting System," Proc. ACM KDD, 2016.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72A52"/>
                </a:solidFill>
                <a:latin typeface="Calibri"/>
              </a:rPr>
              <a:t>[2] 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S. M. Lundberg and S.-I. Lee, "A Unified Approach to Interpreting Model Predictions," NeurIPS, 2017.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72A52"/>
                </a:solidFill>
                <a:latin typeface="Calibri"/>
              </a:rPr>
              <a:t>[3] 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N. V. Chawla et al., "SMOTE: Synthetic Minority Over-sampling Technique," JAIR, vol. 16, 2002.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72A52"/>
                </a:solidFill>
                <a:latin typeface="Calibri"/>
              </a:rPr>
              <a:t>[4] 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F. Pedregosa et al., "Scikit-learn: Machine Learning in Python," JMLR, vol. 12, 2011.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072A52"/>
                </a:solidFill>
                <a:latin typeface="Calibri"/>
              </a:rPr>
              <a:t>[5]  </a:t>
            </a:r>
            <a:r>
              <a:rPr sz="1300" b="0" i="0">
                <a:solidFill>
                  <a:srgbClr val="1C2430"/>
                </a:solidFill>
                <a:latin typeface="Calibri"/>
              </a:rPr>
              <a:t>Reserve Bank of India, Fair Practices Code for Lenders.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303520"/>
            <a:ext cx="4800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F6019"/>
                </a:solidFill>
                <a:latin typeface="Calibri"/>
              </a:rPr>
              <a:t>PROJECT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650992"/>
            <a:ext cx="4800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72A52"/>
                </a:solidFill>
                <a:latin typeface="Calibri"/>
              </a:rPr>
              <a:t>github.com/anishpujari/Placement-Risk-Modelling-System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solidFill>
            <a:srgbClr val="FFFFFF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195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Sharvari Deshmukh</dc:creator>
  <cp:keywords/>
  <dc:description>generated using python-pptx</dc:description>
  <cp:lastModifiedBy>acer</cp:lastModifiedBy>
  <cp:revision>3</cp:revision>
  <dcterms:created xsi:type="dcterms:W3CDTF">2013-01-27T09:14:16Z</dcterms:created>
  <dcterms:modified xsi:type="dcterms:W3CDTF">2026-10-06T09:48:49Z</dcterms:modified>
  <cp:category/>
</cp:coreProperties>
</file>